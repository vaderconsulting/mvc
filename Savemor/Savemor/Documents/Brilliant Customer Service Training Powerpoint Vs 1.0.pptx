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-128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5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6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7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4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2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8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4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3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1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4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70CD8-8961-654C-8B25-D18D6D3241AB}" type="datetimeFigureOut">
              <a:rPr lang="en-US" smtClean="0"/>
              <a:t>16/04/12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47C74-2CEF-0442-9E43-9297175FB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8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4211"/>
            <a:ext cx="7772400" cy="5975684"/>
          </a:xfrm>
        </p:spPr>
        <p:txBody>
          <a:bodyPr>
            <a:normAutofit fontScale="90000"/>
          </a:bodyPr>
          <a:lstStyle/>
          <a:p>
            <a:pPr>
              <a:spcAft>
                <a:spcPts val="0"/>
              </a:spcAft>
            </a:pPr>
            <a:r>
              <a:rPr lang="en-US" b="1" dirty="0" err="1" smtClean="0">
                <a:solidFill>
                  <a:srgbClr val="FF0000"/>
                </a:solidFill>
                <a:effectLst/>
                <a:latin typeface="Cambria"/>
                <a:ea typeface="ＭＳ 明朝"/>
                <a:cs typeface="Times New Roman"/>
              </a:rPr>
              <a:t>Savemor</a:t>
            </a:r>
            <a: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b="1" dirty="0" smtClean="0">
                <a:solidFill>
                  <a:srgbClr val="FF0000"/>
                </a:solidFill>
                <a:effectLst/>
                <a:latin typeface="Cambria"/>
                <a:ea typeface="ＭＳ 明朝"/>
                <a:cs typeface="Times New Roman"/>
              </a:rPr>
              <a:t> </a:t>
            </a:r>
            <a: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b="1" dirty="0" smtClean="0">
                <a:solidFill>
                  <a:srgbClr val="FF0000"/>
                </a:solidFill>
                <a:effectLst/>
                <a:latin typeface="Cambria"/>
                <a:ea typeface="ＭＳ 明朝"/>
                <a:cs typeface="Times New Roman"/>
              </a:rPr>
              <a:t>BRILLIANT</a:t>
            </a:r>
            <a: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b="1" dirty="0" smtClean="0">
                <a:solidFill>
                  <a:srgbClr val="FF0000"/>
                </a:solidFill>
                <a:effectLst/>
                <a:latin typeface="Cambria"/>
                <a:ea typeface="ＭＳ 明朝"/>
                <a:cs typeface="Times New Roman"/>
              </a:rPr>
              <a:t> </a:t>
            </a:r>
            <a: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sz="6600" b="1" u="sng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Customer</a:t>
            </a:r>
            <a: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sz="6600" b="1" dirty="0" smtClean="0">
                <a:solidFill>
                  <a:srgbClr val="4BACC6"/>
                </a:solidFill>
                <a:effectLst/>
                <a:latin typeface="Cambria"/>
                <a:ea typeface="ＭＳ 明朝"/>
                <a:cs typeface="Times New Roman"/>
              </a:rPr>
              <a:t> </a:t>
            </a:r>
            <a: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sz="6600" b="1" u="sng" dirty="0" smtClean="0">
                <a:solidFill>
                  <a:srgbClr val="FFFF00"/>
                </a:solidFill>
                <a:effectLst/>
                <a:latin typeface="Cambria"/>
                <a:ea typeface="ＭＳ 明朝"/>
                <a:cs typeface="Times New Roman"/>
              </a:rPr>
              <a:t>Service</a:t>
            </a:r>
            <a: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27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Customer Service &amp;</a:t>
            </a:r>
            <a: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Expectations:</a:t>
            </a:r>
            <a:endParaRPr lang="en-AU" sz="1100" dirty="0">
              <a:effectLst/>
              <a:latin typeface="Cambria"/>
              <a:ea typeface="ＭＳ 明朝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008000"/>
                </a:solidFill>
              </a:rPr>
              <a:t>Think of retail or customer experience that you enjoyed:</a:t>
            </a:r>
            <a:endParaRPr lang="en-AU" dirty="0">
              <a:solidFill>
                <a:srgbClr val="008000"/>
              </a:solidFill>
            </a:endParaRPr>
          </a:p>
          <a:p>
            <a:r>
              <a:rPr lang="en-US" dirty="0">
                <a:solidFill>
                  <a:srgbClr val="008000"/>
                </a:solidFill>
              </a:rPr>
              <a:t>What sort of shop / place was it?</a:t>
            </a:r>
            <a:endParaRPr lang="en-AU" dirty="0">
              <a:solidFill>
                <a:srgbClr val="008000"/>
              </a:solidFill>
            </a:endParaRPr>
          </a:p>
          <a:p>
            <a:r>
              <a:rPr lang="en-US" dirty="0">
                <a:solidFill>
                  <a:srgbClr val="008000"/>
                </a:solidFill>
              </a:rPr>
              <a:t>What made it special?</a:t>
            </a:r>
            <a:endParaRPr lang="en-AU" dirty="0">
              <a:solidFill>
                <a:srgbClr val="008000"/>
              </a:solidFill>
            </a:endParaRPr>
          </a:p>
          <a:p>
            <a:r>
              <a:rPr lang="en-US" dirty="0">
                <a:solidFill>
                  <a:srgbClr val="008000"/>
                </a:solidFill>
              </a:rPr>
              <a:t>How did you feel when you entered this retailer?</a:t>
            </a:r>
            <a:endParaRPr lang="en-AU" dirty="0">
              <a:solidFill>
                <a:srgbClr val="008000"/>
              </a:solidFill>
            </a:endParaRPr>
          </a:p>
          <a:p>
            <a:r>
              <a:rPr lang="en-US" dirty="0">
                <a:solidFill>
                  <a:srgbClr val="008000"/>
                </a:solidFill>
              </a:rPr>
              <a:t>How many people have told you about their experience there or people have you told about it?</a:t>
            </a:r>
            <a:endParaRPr lang="en-AU" dirty="0">
              <a:solidFill>
                <a:srgbClr val="008000"/>
              </a:solidFill>
            </a:endParaRPr>
          </a:p>
          <a:p>
            <a:r>
              <a:rPr lang="en-US" dirty="0">
                <a:solidFill>
                  <a:srgbClr val="008000"/>
                </a:solidFill>
              </a:rPr>
              <a:t>What is the pitch/tone of your voice when you talk about it? Whine, negative or upbeat, positive</a:t>
            </a:r>
            <a:r>
              <a:rPr lang="en-US" dirty="0" smtClean="0">
                <a:solidFill>
                  <a:srgbClr val="008000"/>
                </a:solidFill>
              </a:rPr>
              <a:t>.</a:t>
            </a:r>
            <a:endParaRPr lang="en-AU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2947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Word of mouth is very important for any retailer and good customer service </a:t>
            </a:r>
            <a:r>
              <a:rPr lang="en-US" dirty="0" smtClean="0">
                <a:solidFill>
                  <a:srgbClr val="FF0000"/>
                </a:solidFill>
              </a:rPr>
              <a:t>gives </a:t>
            </a:r>
            <a:r>
              <a:rPr lang="en-US" dirty="0">
                <a:solidFill>
                  <a:srgbClr val="FF0000"/>
                </a:solidFill>
              </a:rPr>
              <a:t>good word of mouth BUT even more than that, what makes me so passionate about customer service is the great satisfaction I personally get from servicing a customer, developing a relationship and making that person feel valued and important – because they ARE</a:t>
            </a:r>
            <a:r>
              <a:rPr lang="en-US" dirty="0" smtClean="0">
                <a:solidFill>
                  <a:srgbClr val="FF0000"/>
                </a:solidFill>
              </a:rPr>
              <a:t>!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860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217"/>
            <a:ext cx="8229600" cy="1143000"/>
          </a:xfrm>
        </p:spPr>
        <p:txBody>
          <a:bodyPr>
            <a:normAutofit fontScale="90000"/>
          </a:bodyPr>
          <a:lstStyle/>
          <a:p>
            <a:pPr>
              <a:spcAft>
                <a:spcPts val="0"/>
              </a:spcAft>
            </a:pPr>
            <a:r>
              <a:rPr lang="en-US" dirty="0" err="1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Savemor</a:t>
            </a: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  </a:t>
            </a:r>
            <a: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1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What do we do?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7908"/>
            <a:ext cx="8229600" cy="5150853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2800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Pharmacy – professional – Health</a:t>
            </a:r>
          </a:p>
          <a:p>
            <a:r>
              <a:rPr lang="en-US" sz="2800" dirty="0" smtClean="0">
                <a:solidFill>
                  <a:srgbClr val="FF0000"/>
                </a:solidFill>
                <a:effectLst/>
                <a:latin typeface="Cambria"/>
                <a:ea typeface="ＭＳ 明朝"/>
                <a:cs typeface="Times New Roman"/>
              </a:rPr>
              <a:t>What makes us different?</a:t>
            </a:r>
            <a:r>
              <a:rPr lang="en-AU" sz="2800" dirty="0" smtClean="0">
                <a:effectLst/>
              </a:rPr>
              <a:t> </a:t>
            </a:r>
            <a:endParaRPr lang="en-US" sz="2800" dirty="0" smtClean="0">
              <a:solidFill>
                <a:srgbClr val="2B782D"/>
              </a:solidFill>
              <a:effectLst/>
              <a:latin typeface="Cambria"/>
              <a:ea typeface="ＭＳ 明朝"/>
              <a:cs typeface="Times New Roman"/>
            </a:endParaRPr>
          </a:p>
          <a:p>
            <a:pPr lvl="1"/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Range at Everyday Value </a:t>
            </a:r>
            <a:endParaRPr lang="en-AU" dirty="0" smtClean="0">
              <a:effectLst/>
              <a:latin typeface="Cambria"/>
              <a:ea typeface="ＭＳ 明朝"/>
              <a:cs typeface="Times New Roman"/>
            </a:endParaRPr>
          </a:p>
          <a:p>
            <a:pPr lvl="1"/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Professional Health Services</a:t>
            </a:r>
            <a:endParaRPr lang="en-AU" dirty="0" smtClean="0">
              <a:effectLst/>
              <a:latin typeface="Cambria"/>
              <a:ea typeface="ＭＳ 明朝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2800" dirty="0" smtClean="0">
                <a:solidFill>
                  <a:srgbClr val="FF0000"/>
                </a:solidFill>
                <a:effectLst/>
                <a:latin typeface="Cambria"/>
                <a:ea typeface="ＭＳ 明朝"/>
                <a:cs typeface="Times New Roman"/>
              </a:rPr>
              <a:t>What will the customer remember?</a:t>
            </a:r>
            <a:endParaRPr lang="en-AU" sz="2800" dirty="0" smtClean="0">
              <a:effectLst/>
              <a:latin typeface="Cambria"/>
              <a:ea typeface="ＭＳ 明朝"/>
              <a:cs typeface="Times New Roman"/>
            </a:endParaRPr>
          </a:p>
          <a:p>
            <a:pPr lvl="1"/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Their experience</a:t>
            </a:r>
            <a:endParaRPr lang="en-AU" dirty="0" smtClean="0">
              <a:effectLst/>
              <a:latin typeface="Cambria"/>
              <a:ea typeface="ＭＳ 明朝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2800" dirty="0" smtClean="0">
                <a:solidFill>
                  <a:srgbClr val="FF0000"/>
                </a:solidFill>
                <a:effectLst/>
                <a:latin typeface="Cambria"/>
                <a:ea typeface="ＭＳ 明朝"/>
                <a:cs typeface="Times New Roman"/>
              </a:rPr>
              <a:t>Why will they return to us rather than another outlet?</a:t>
            </a:r>
            <a:endParaRPr lang="en-AU" sz="2800" dirty="0" smtClean="0">
              <a:effectLst/>
              <a:latin typeface="Cambria"/>
              <a:ea typeface="ＭＳ 明朝"/>
              <a:cs typeface="Times New Roman"/>
            </a:endParaRPr>
          </a:p>
          <a:p>
            <a:pPr lvl="1"/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Care, compassion, personal, interested, </a:t>
            </a:r>
            <a:r>
              <a:rPr lang="en-US" u="sng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respected, valued, relationship</a:t>
            </a: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. </a:t>
            </a:r>
            <a:endParaRPr lang="en-AU" dirty="0" smtClean="0">
              <a:effectLst/>
              <a:latin typeface="Cambria"/>
              <a:ea typeface="ＭＳ 明朝"/>
              <a:cs typeface="Times New Roman"/>
            </a:endParaRPr>
          </a:p>
          <a:p>
            <a:pPr lvl="1"/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Exceed the expectation of  JUST a retail visit.</a:t>
            </a:r>
            <a:endParaRPr lang="en-AU" dirty="0" smtClean="0">
              <a:effectLst/>
              <a:latin typeface="Cambria"/>
              <a:ea typeface="ＭＳ 明朝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82462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Role play: gathering at home that is open house.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0"/>
            <a:ext cx="8229600" cy="231616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WHAT DID YOU DO?????</a:t>
            </a:r>
            <a:endParaRPr lang="en-AU" sz="1800" dirty="0" smtClean="0">
              <a:effectLst/>
              <a:latin typeface="Cambria"/>
              <a:ea typeface="ＭＳ 明朝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841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How can we do this in store…….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 Welcome into the store with friendly smile, eye contact, verbal greeting. 10   RADAR</a:t>
            </a:r>
            <a:endParaRPr lang="en-AU" dirty="0">
              <a:solidFill>
                <a:srgbClr val="008000"/>
              </a:solidFill>
            </a:endParaRPr>
          </a:p>
          <a:p>
            <a:pPr marL="0" indent="0">
              <a:buClr>
                <a:srgbClr val="FF0000"/>
              </a:buClr>
              <a:buNone/>
            </a:pPr>
            <a:endParaRPr lang="en-AU" dirty="0">
              <a:solidFill>
                <a:srgbClr val="008000"/>
              </a:solidFill>
            </a:endParaRPr>
          </a:p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Approaching and acknowledging then with smile and saying hi or goodbye if passing on way in or out.</a:t>
            </a:r>
            <a:endParaRPr lang="en-AU" dirty="0">
              <a:solidFill>
                <a:srgbClr val="008000"/>
              </a:solidFill>
            </a:endParaRPr>
          </a:p>
          <a:p>
            <a:pPr marL="0" indent="0">
              <a:buClr>
                <a:srgbClr val="FF0000"/>
              </a:buClr>
              <a:buNone/>
            </a:pPr>
            <a:endParaRPr lang="en-AU" dirty="0">
              <a:solidFill>
                <a:srgbClr val="008000"/>
              </a:solidFill>
            </a:endParaRPr>
          </a:p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Team approach willing to work together to satisfy the needs of the customer</a:t>
            </a:r>
            <a:endParaRPr lang="en-AU" dirty="0">
              <a:solidFill>
                <a:srgbClr val="008000"/>
              </a:solidFill>
            </a:endParaRPr>
          </a:p>
          <a:p>
            <a:pPr marL="0" indent="0">
              <a:buClr>
                <a:srgbClr val="FF0000"/>
              </a:buClr>
              <a:buNone/>
            </a:pPr>
            <a:endParaRPr lang="en-AU" dirty="0">
              <a:solidFill>
                <a:srgbClr val="008000"/>
              </a:solidFill>
            </a:endParaRPr>
          </a:p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Having a chat, enquiring after the effectiveness of their last purchase</a:t>
            </a:r>
            <a:r>
              <a:rPr lang="en-US" dirty="0" smtClean="0">
                <a:solidFill>
                  <a:srgbClr val="008000"/>
                </a:solidFill>
              </a:rPr>
              <a:t>?</a:t>
            </a:r>
            <a:endParaRPr lang="en-AU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4908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LISTENING with FULL ATTENTION</a:t>
            </a:r>
            <a:endParaRPr lang="en-AU" dirty="0">
              <a:solidFill>
                <a:srgbClr val="008000"/>
              </a:solidFill>
            </a:endParaRPr>
          </a:p>
          <a:p>
            <a:pPr marL="0" indent="0">
              <a:buClr>
                <a:srgbClr val="FF0000"/>
              </a:buClr>
              <a:buNone/>
            </a:pPr>
            <a:endParaRPr lang="en-AU" dirty="0">
              <a:solidFill>
                <a:srgbClr val="008000"/>
              </a:solidFill>
            </a:endParaRPr>
          </a:p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Helpful ACCURATE advice </a:t>
            </a:r>
            <a:r>
              <a:rPr lang="en-US" dirty="0" smtClean="0">
                <a:solidFill>
                  <a:srgbClr val="008000"/>
                </a:solidFill>
              </a:rPr>
              <a:t>–</a:t>
            </a:r>
            <a:r>
              <a:rPr lang="en-AU" dirty="0" smtClean="0">
                <a:solidFill>
                  <a:srgbClr val="008000"/>
                </a:solidFill>
              </a:rPr>
              <a:t> </a:t>
            </a:r>
            <a:r>
              <a:rPr lang="en-US" dirty="0" smtClean="0">
                <a:solidFill>
                  <a:srgbClr val="008000"/>
                </a:solidFill>
              </a:rPr>
              <a:t>(</a:t>
            </a:r>
            <a:r>
              <a:rPr lang="en-US" dirty="0">
                <a:solidFill>
                  <a:srgbClr val="008000"/>
                </a:solidFill>
              </a:rPr>
              <a:t>re upcoming product training) or referring on</a:t>
            </a:r>
            <a:r>
              <a:rPr lang="en-US" dirty="0" smtClean="0">
                <a:solidFill>
                  <a:srgbClr val="008000"/>
                </a:solidFill>
              </a:rPr>
              <a:t>.</a:t>
            </a:r>
            <a:endParaRPr lang="en-AU" dirty="0" smtClean="0">
              <a:solidFill>
                <a:srgbClr val="008000"/>
              </a:solidFill>
            </a:endParaRPr>
          </a:p>
          <a:p>
            <a:pPr marL="0" indent="0">
              <a:buClr>
                <a:srgbClr val="FF0000"/>
              </a:buClr>
              <a:buNone/>
            </a:pPr>
            <a:endParaRPr lang="en-AU" dirty="0" smtClean="0">
              <a:solidFill>
                <a:srgbClr val="008000"/>
              </a:solidFill>
            </a:endParaRPr>
          </a:p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 smtClean="0">
                <a:solidFill>
                  <a:srgbClr val="008000"/>
                </a:solidFill>
              </a:rPr>
              <a:t>Ensuring </a:t>
            </a:r>
            <a:r>
              <a:rPr lang="en-US" dirty="0">
                <a:solidFill>
                  <a:srgbClr val="008000"/>
                </a:solidFill>
              </a:rPr>
              <a:t>the customer gets what they came in for – advice, reassurance, product in a fast effective friendly manner.</a:t>
            </a:r>
            <a:endParaRPr lang="en-AU" dirty="0">
              <a:solidFill>
                <a:srgbClr val="008000"/>
              </a:solidFill>
            </a:endParaRPr>
          </a:p>
          <a:p>
            <a:pPr marL="0" indent="0">
              <a:buClr>
                <a:srgbClr val="FF0000"/>
              </a:buClr>
              <a:buNone/>
            </a:pPr>
            <a:endParaRPr lang="en-AU" dirty="0">
              <a:solidFill>
                <a:srgbClr val="008000"/>
              </a:solidFill>
            </a:endParaRPr>
          </a:p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Value the customer and farewell them as they leave or smile and farewell as you pass them on their way out</a:t>
            </a:r>
            <a:r>
              <a:rPr lang="en-US" dirty="0" smtClean="0">
                <a:solidFill>
                  <a:srgbClr val="008000"/>
                </a:solidFill>
              </a:rPr>
              <a:t>.</a:t>
            </a:r>
            <a:endParaRPr lang="en-AU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0190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Role play  - Ask open ended questions, listen.</a:t>
            </a:r>
            <a:endParaRPr lang="en-AU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 smtClean="0">
                <a:solidFill>
                  <a:srgbClr val="FF0000"/>
                </a:solidFill>
              </a:rPr>
              <a:t>Topic </a:t>
            </a:r>
            <a:r>
              <a:rPr lang="en-US" dirty="0">
                <a:solidFill>
                  <a:srgbClr val="FF0000"/>
                </a:solidFill>
              </a:rPr>
              <a:t>?</a:t>
            </a:r>
            <a:endParaRPr lang="en-AU" dirty="0">
              <a:solidFill>
                <a:srgbClr val="FF0000"/>
              </a:solidFill>
            </a:endParaRPr>
          </a:p>
          <a:p>
            <a:pPr>
              <a:buFont typeface="Wingdings" charset="2"/>
              <a:buChar char="v"/>
            </a:pPr>
            <a:endParaRPr lang="en-AU" dirty="0">
              <a:solidFill>
                <a:srgbClr val="FF0000"/>
              </a:solidFill>
            </a:endParaRPr>
          </a:p>
          <a:p>
            <a:pPr>
              <a:buFont typeface="Wingdings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Ask closed question,</a:t>
            </a:r>
            <a:endParaRPr lang="en-AU" dirty="0">
              <a:solidFill>
                <a:srgbClr val="FF0000"/>
              </a:solidFill>
            </a:endParaRPr>
          </a:p>
          <a:p>
            <a:pPr>
              <a:buFont typeface="Wingdings" charset="2"/>
              <a:buChar char="v"/>
            </a:pPr>
            <a:endParaRPr lang="en-AU" dirty="0">
              <a:solidFill>
                <a:srgbClr val="FF0000"/>
              </a:solidFill>
            </a:endParaRPr>
          </a:p>
          <a:p>
            <a:pPr>
              <a:buFont typeface="Wingdings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Which way gave you  better understanding of what the customer required</a:t>
            </a:r>
            <a:r>
              <a:rPr lang="en-US" dirty="0" smtClean="0">
                <a:solidFill>
                  <a:srgbClr val="FF0000"/>
                </a:solidFill>
              </a:rPr>
              <a:t>?</a:t>
            </a:r>
          </a:p>
          <a:p>
            <a:pPr>
              <a:buFont typeface="Wingdings" charset="2"/>
              <a:buChar char="v"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Font typeface="Wingdings" charset="2"/>
              <a:buChar char="v"/>
            </a:pP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Paraphrase it back to the customer summarizing what you heard and confirm the product you are getting for them.</a:t>
            </a:r>
            <a:r>
              <a:rPr lang="en-AU" sz="18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1800" dirty="0" smtClean="0">
                <a:effectLst/>
                <a:latin typeface="Cambria"/>
                <a:ea typeface="ＭＳ 明朝"/>
                <a:cs typeface="Times New Roman"/>
              </a:rPr>
            </a:br>
            <a:endParaRPr lang="en-AU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66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105" y="929689"/>
            <a:ext cx="8229600" cy="4524625"/>
          </a:xfrm>
        </p:spPr>
        <p:txBody>
          <a:bodyPr>
            <a:normAutofit fontScale="90000"/>
          </a:bodyPr>
          <a:lstStyle/>
          <a:p>
            <a:pPr marL="457200">
              <a:spcAft>
                <a:spcPts val="0"/>
              </a:spcAft>
            </a:pPr>
            <a:r>
              <a:rPr lang="en-US" b="1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Ways we communicate:</a:t>
            </a:r>
            <a:r>
              <a:rPr lang="en-AU" sz="2800" b="1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2800" b="1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 </a:t>
            </a:r>
            <a: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Body language</a:t>
            </a:r>
            <a: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 </a:t>
            </a:r>
            <a: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Words we use</a:t>
            </a:r>
            <a: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 </a:t>
            </a:r>
            <a: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</a:br>
            <a:r>
              <a:rPr lang="en-US" dirty="0" smtClean="0">
                <a:solidFill>
                  <a:srgbClr val="2B782D"/>
                </a:solidFill>
                <a:effectLst/>
                <a:latin typeface="Cambria"/>
                <a:ea typeface="ＭＳ 明朝"/>
                <a:cs typeface="Times New Roman"/>
              </a:rPr>
              <a:t>The way we say the words – </a:t>
            </a:r>
            <a: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  <a:t/>
            </a:r>
            <a:br>
              <a:rPr lang="en-AU" sz="2800" dirty="0" smtClean="0">
                <a:effectLst/>
                <a:latin typeface="Cambria"/>
                <a:ea typeface="ＭＳ 明朝"/>
                <a:cs typeface="Times New Roman"/>
              </a:rPr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4105" y="245978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075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Uplifting and sincere OR </a:t>
            </a:r>
            <a:r>
              <a:rPr lang="en-US" dirty="0" smtClean="0">
                <a:solidFill>
                  <a:srgbClr val="008000"/>
                </a:solidFill>
              </a:rPr>
              <a:t>a </a:t>
            </a:r>
            <a:r>
              <a:rPr lang="en-US" dirty="0">
                <a:solidFill>
                  <a:srgbClr val="008000"/>
                </a:solidFill>
              </a:rPr>
              <a:t>drag and coz we have too!</a:t>
            </a:r>
            <a:endParaRPr lang="en-AU" dirty="0">
              <a:solidFill>
                <a:srgbClr val="00800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008000"/>
              </a:solidFill>
            </a:endParaRPr>
          </a:p>
          <a:p>
            <a:pP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38, 7, 55</a:t>
            </a:r>
            <a:endParaRPr lang="en-AU" dirty="0">
              <a:solidFill>
                <a:srgbClr val="00800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008000"/>
              </a:solidFill>
            </a:endParaRPr>
          </a:p>
          <a:p>
            <a:pP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Be AWARE of how we are CONSTANTLY communicating to the customer and how THEY see you communicating to them.</a:t>
            </a:r>
            <a:endParaRPr lang="en-AU" dirty="0">
              <a:solidFill>
                <a:srgbClr val="00800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008000"/>
              </a:solidFill>
            </a:endParaRPr>
          </a:p>
          <a:p>
            <a:pP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Are you recognizing them as BEING AS IMPORTANT AS THEY ARE every time?</a:t>
            </a:r>
            <a:r>
              <a:rPr lang="en-AU" dirty="0" smtClean="0">
                <a:solidFill>
                  <a:srgbClr val="008000"/>
                </a:solidFill>
                <a:effectLst/>
              </a:rPr>
              <a:t> </a:t>
            </a:r>
            <a:endParaRPr lang="en-US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7506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8000"/>
                </a:solidFill>
              </a:rPr>
              <a:t>ATTITUDE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</a:rPr>
              <a:t>1+20+20+9+20+21+4+5=100%</a:t>
            </a:r>
            <a:endParaRPr lang="en-AU" dirty="0">
              <a:solidFill>
                <a:srgbClr val="008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3241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FF0000"/>
              </a:buClr>
              <a:buFont typeface="Wingdings" charset="2"/>
              <a:buChar char="v"/>
            </a:pPr>
            <a:r>
              <a:rPr lang="en-US" dirty="0" smtClean="0">
                <a:solidFill>
                  <a:srgbClr val="008000"/>
                </a:solidFill>
              </a:rPr>
              <a:t>SMILE</a:t>
            </a:r>
          </a:p>
          <a:p>
            <a:pPr>
              <a:buClr>
                <a:srgbClr val="FF0000"/>
              </a:buClr>
              <a:buFont typeface="Wingdings" charset="2"/>
              <a:buChar char="v"/>
            </a:pPr>
            <a:endParaRPr lang="en-AU" dirty="0">
              <a:solidFill>
                <a:srgbClr val="008000"/>
              </a:solidFill>
            </a:endParaRPr>
          </a:p>
          <a:p>
            <a:pPr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 </a:t>
            </a:r>
            <a:r>
              <a:rPr lang="en-US" dirty="0" smtClean="0">
                <a:solidFill>
                  <a:srgbClr val="008000"/>
                </a:solidFill>
              </a:rPr>
              <a:t>USE </a:t>
            </a:r>
            <a:r>
              <a:rPr lang="en-US" dirty="0">
                <a:solidFill>
                  <a:srgbClr val="008000"/>
                </a:solidFill>
              </a:rPr>
              <a:t>THE CUSTOMERS </a:t>
            </a:r>
            <a:r>
              <a:rPr lang="en-US" dirty="0" smtClean="0">
                <a:solidFill>
                  <a:srgbClr val="008000"/>
                </a:solidFill>
              </a:rPr>
              <a:t>NAME</a:t>
            </a:r>
          </a:p>
          <a:p>
            <a:pPr>
              <a:buClr>
                <a:srgbClr val="FF0000"/>
              </a:buClr>
              <a:buFont typeface="Wingdings" charset="2"/>
              <a:buChar char="v"/>
            </a:pPr>
            <a:endParaRPr lang="en-AU" dirty="0">
              <a:solidFill>
                <a:srgbClr val="008000"/>
              </a:solidFill>
            </a:endParaRPr>
          </a:p>
          <a:p>
            <a:pPr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 </a:t>
            </a:r>
            <a:r>
              <a:rPr lang="en-US" dirty="0" smtClean="0">
                <a:solidFill>
                  <a:srgbClr val="008000"/>
                </a:solidFill>
              </a:rPr>
              <a:t>GIVE </a:t>
            </a:r>
            <a:r>
              <a:rPr lang="en-US" dirty="0">
                <a:solidFill>
                  <a:srgbClr val="008000"/>
                </a:solidFill>
              </a:rPr>
              <a:t>FULL </a:t>
            </a:r>
            <a:r>
              <a:rPr lang="en-US" dirty="0" smtClean="0">
                <a:solidFill>
                  <a:srgbClr val="008000"/>
                </a:solidFill>
              </a:rPr>
              <a:t>ATTENTION</a:t>
            </a:r>
          </a:p>
          <a:p>
            <a:pPr>
              <a:buClr>
                <a:srgbClr val="FF0000"/>
              </a:buClr>
              <a:buFont typeface="Wingdings" charset="2"/>
              <a:buChar char="v"/>
            </a:pPr>
            <a:endParaRPr lang="en-AU" dirty="0">
              <a:solidFill>
                <a:srgbClr val="008000"/>
              </a:solidFill>
            </a:endParaRPr>
          </a:p>
          <a:p>
            <a:pPr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 </a:t>
            </a:r>
            <a:r>
              <a:rPr lang="en-US" dirty="0" smtClean="0">
                <a:solidFill>
                  <a:srgbClr val="008000"/>
                </a:solidFill>
              </a:rPr>
              <a:t>AVOID </a:t>
            </a:r>
            <a:r>
              <a:rPr lang="en-US" dirty="0">
                <a:solidFill>
                  <a:srgbClr val="008000"/>
                </a:solidFill>
              </a:rPr>
              <a:t>FRUSTRATION AND IRRITATION FOR THE CUSTOMER  </a:t>
            </a:r>
            <a:endParaRPr lang="en-AU" dirty="0">
              <a:solidFill>
                <a:srgbClr val="008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48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WAITING (their time is not important)</a:t>
            </a:r>
            <a:endParaRPr lang="en-AU" dirty="0">
              <a:solidFill>
                <a:srgbClr val="008000"/>
              </a:solidFill>
            </a:endParaRPr>
          </a:p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IGNORED (they are not important)</a:t>
            </a:r>
            <a:endParaRPr lang="en-AU" dirty="0">
              <a:solidFill>
                <a:srgbClr val="008000"/>
              </a:solidFill>
            </a:endParaRPr>
          </a:p>
          <a:p>
            <a:pPr lvl="0"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EXPECTED ITEM NOT AVAILABLE (</a:t>
            </a:r>
            <a:r>
              <a:rPr lang="en-US" dirty="0" smtClean="0">
                <a:solidFill>
                  <a:srgbClr val="008000"/>
                </a:solidFill>
              </a:rPr>
              <a:t>inconvenience,</a:t>
            </a:r>
            <a:r>
              <a:rPr lang="en-AU" dirty="0" smtClean="0">
                <a:solidFill>
                  <a:srgbClr val="008000"/>
                </a:solidFill>
              </a:rPr>
              <a:t> </a:t>
            </a:r>
            <a:r>
              <a:rPr lang="en-US" dirty="0" smtClean="0">
                <a:solidFill>
                  <a:srgbClr val="008000"/>
                </a:solidFill>
              </a:rPr>
              <a:t>expectation </a:t>
            </a:r>
            <a:r>
              <a:rPr lang="en-US" dirty="0">
                <a:solidFill>
                  <a:srgbClr val="008000"/>
                </a:solidFill>
              </a:rPr>
              <a:t>not </a:t>
            </a:r>
            <a:r>
              <a:rPr lang="en-US" dirty="0" smtClean="0">
                <a:solidFill>
                  <a:srgbClr val="008000"/>
                </a:solidFill>
              </a:rPr>
              <a:t>met,</a:t>
            </a:r>
            <a:r>
              <a:rPr lang="en-AU" dirty="0" smtClean="0">
                <a:solidFill>
                  <a:srgbClr val="008000"/>
                </a:solidFill>
              </a:rPr>
              <a:t> </a:t>
            </a:r>
            <a:r>
              <a:rPr lang="en-US" dirty="0" smtClean="0">
                <a:solidFill>
                  <a:srgbClr val="008000"/>
                </a:solidFill>
              </a:rPr>
              <a:t>disappointment)</a:t>
            </a:r>
            <a:endParaRPr lang="en-AU" dirty="0">
              <a:solidFill>
                <a:srgbClr val="008000"/>
              </a:solidFill>
            </a:endParaRPr>
          </a:p>
          <a:p>
            <a:pPr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ALL NEGATIVE EXPERIENCES.</a:t>
            </a:r>
            <a:endParaRPr lang="en-AU" dirty="0">
              <a:solidFill>
                <a:srgbClr val="008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512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YOU NEVER GET A SECOND </a:t>
            </a:r>
            <a:r>
              <a:rPr lang="en-US" dirty="0" smtClean="0">
                <a:solidFill>
                  <a:srgbClr val="008000"/>
                </a:solidFill>
              </a:rPr>
              <a:t>CHANCE</a:t>
            </a:r>
            <a:r>
              <a:rPr lang="en-AU" dirty="0" smtClean="0">
                <a:solidFill>
                  <a:srgbClr val="008000"/>
                </a:solidFill>
              </a:rPr>
              <a:t> </a:t>
            </a:r>
            <a:r>
              <a:rPr lang="en-US" dirty="0" smtClean="0">
                <a:solidFill>
                  <a:srgbClr val="008000"/>
                </a:solidFill>
              </a:rPr>
              <a:t>TO </a:t>
            </a:r>
            <a:r>
              <a:rPr lang="en-US" dirty="0">
                <a:solidFill>
                  <a:srgbClr val="008000"/>
                </a:solidFill>
              </a:rPr>
              <a:t>MAKE A GOOD FIRST </a:t>
            </a:r>
            <a:r>
              <a:rPr lang="en-US" dirty="0" smtClean="0">
                <a:solidFill>
                  <a:srgbClr val="008000"/>
                </a:solidFill>
              </a:rPr>
              <a:t>IMPRESSION.</a:t>
            </a:r>
          </a:p>
          <a:p>
            <a:pPr>
              <a:buClr>
                <a:srgbClr val="FF0000"/>
              </a:buClr>
              <a:buFont typeface="Wingdings" charset="2"/>
              <a:buChar char="v"/>
            </a:pPr>
            <a:endParaRPr lang="en-AU" dirty="0">
              <a:solidFill>
                <a:srgbClr val="008000"/>
              </a:solidFill>
            </a:endParaRPr>
          </a:p>
          <a:p>
            <a:pPr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MAKE EVERY IMPRESSION COUNT</a:t>
            </a:r>
            <a:endParaRPr lang="en-AU" dirty="0">
              <a:solidFill>
                <a:srgbClr val="008000"/>
              </a:solidFill>
            </a:endParaRPr>
          </a:p>
          <a:p>
            <a:pPr>
              <a:buClr>
                <a:srgbClr val="FF0000"/>
              </a:buClr>
              <a:buFont typeface="Wingdings" charset="2"/>
              <a:buChar char="v"/>
            </a:pPr>
            <a:endParaRPr lang="en-US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864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PHARMACY ASSISTANTS ARE THE FIRST IMPRESSION OF PHARMACY</a:t>
            </a:r>
            <a:endParaRPr lang="en-AU" dirty="0">
              <a:solidFill>
                <a:srgbClr val="008000"/>
              </a:solidFill>
            </a:endParaRPr>
          </a:p>
          <a:p>
            <a:pPr>
              <a:buClr>
                <a:srgbClr val="FF0000"/>
              </a:buClr>
              <a:buFont typeface="Wingdings" charset="2"/>
              <a:buChar char="v"/>
            </a:pPr>
            <a:endParaRPr lang="en-AU" dirty="0">
              <a:solidFill>
                <a:srgbClr val="008000"/>
              </a:solidFill>
            </a:endParaRPr>
          </a:p>
          <a:p>
            <a:pPr>
              <a:buClr>
                <a:srgbClr val="FF0000"/>
              </a:buClr>
              <a:buFont typeface="Wingdings" charset="2"/>
              <a:buChar char="v"/>
            </a:pPr>
            <a:r>
              <a:rPr lang="en-US" dirty="0">
                <a:solidFill>
                  <a:srgbClr val="008000"/>
                </a:solidFill>
              </a:rPr>
              <a:t>THIS IS HOW IMPORTANT YOU ARE TO THIS BUSINESS!</a:t>
            </a:r>
            <a:endParaRPr lang="en-AU" dirty="0">
              <a:solidFill>
                <a:srgbClr val="008000"/>
              </a:solidFill>
            </a:endParaRPr>
          </a:p>
          <a:p>
            <a:pPr>
              <a:buClr>
                <a:srgbClr val="FF0000"/>
              </a:buClr>
              <a:buFont typeface="Wingdings" charset="2"/>
              <a:buChar char="v"/>
            </a:pPr>
            <a:endParaRPr lang="en-US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9264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pPr algn="ctr">
              <a:buClr>
                <a:srgbClr val="008000"/>
              </a:buClr>
              <a:buFont typeface="Wingdings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SMILE</a:t>
            </a:r>
            <a:endParaRPr lang="en-AU" dirty="0">
              <a:solidFill>
                <a:srgbClr val="FF0000"/>
              </a:solidFill>
            </a:endParaRPr>
          </a:p>
          <a:p>
            <a:pPr algn="ctr">
              <a:buClr>
                <a:srgbClr val="008000"/>
              </a:buClr>
              <a:buFont typeface="Wingdings" charset="2"/>
              <a:buChar char="v"/>
            </a:pPr>
            <a:endParaRPr lang="en-AU" dirty="0">
              <a:solidFill>
                <a:srgbClr val="FF0000"/>
              </a:solidFill>
            </a:endParaRPr>
          </a:p>
          <a:p>
            <a:pPr algn="ctr">
              <a:buClr>
                <a:srgbClr val="008000"/>
              </a:buClr>
              <a:buFont typeface="Wingdings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BE UPLIFTING</a:t>
            </a:r>
            <a:endParaRPr lang="en-AU" dirty="0">
              <a:solidFill>
                <a:srgbClr val="FF0000"/>
              </a:solidFill>
            </a:endParaRPr>
          </a:p>
          <a:p>
            <a:pPr algn="ctr">
              <a:buClr>
                <a:srgbClr val="008000"/>
              </a:buClr>
              <a:buFont typeface="Wingdings" charset="2"/>
              <a:buChar char="v"/>
            </a:pPr>
            <a:endParaRPr lang="en-AU" dirty="0">
              <a:solidFill>
                <a:srgbClr val="FF0000"/>
              </a:solidFill>
            </a:endParaRPr>
          </a:p>
          <a:p>
            <a:pPr algn="ctr">
              <a:buClr>
                <a:srgbClr val="008000"/>
              </a:buClr>
              <a:buFont typeface="Wingdings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BE PROUD</a:t>
            </a:r>
            <a:endParaRPr lang="en-AU" dirty="0">
              <a:solidFill>
                <a:srgbClr val="FF0000"/>
              </a:solidFill>
            </a:endParaRPr>
          </a:p>
          <a:p>
            <a:pPr marL="0" indent="0" algn="ctr">
              <a:buClr>
                <a:srgbClr val="008000"/>
              </a:buClr>
              <a:buNone/>
            </a:pPr>
            <a:endParaRPr lang="en-AU" dirty="0">
              <a:solidFill>
                <a:srgbClr val="FF0000"/>
              </a:solidFill>
            </a:endParaRPr>
          </a:p>
          <a:p>
            <a:pPr algn="ctr">
              <a:buClr>
                <a:srgbClr val="008000"/>
              </a:buClr>
              <a:buFont typeface="Wingdings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BE WELCOMING</a:t>
            </a:r>
            <a:endParaRPr lang="en-AU" dirty="0">
              <a:solidFill>
                <a:srgbClr val="FF0000"/>
              </a:solidFill>
            </a:endParaRPr>
          </a:p>
          <a:p>
            <a:pPr algn="ctr">
              <a:buClr>
                <a:srgbClr val="008000"/>
              </a:buClr>
              <a:buFont typeface="Wingdings" charset="2"/>
              <a:buChar char="v"/>
            </a:pPr>
            <a:endParaRPr lang="en-AU" dirty="0">
              <a:solidFill>
                <a:srgbClr val="FF0000"/>
              </a:solidFill>
            </a:endParaRPr>
          </a:p>
          <a:p>
            <a:pPr algn="ctr">
              <a:buClr>
                <a:srgbClr val="008000"/>
              </a:buClr>
              <a:buFont typeface="Wingdings" charset="2"/>
              <a:buChar char="v"/>
            </a:pPr>
            <a:r>
              <a:rPr lang="en-US" dirty="0">
                <a:solidFill>
                  <a:srgbClr val="FF0000"/>
                </a:solidFill>
              </a:rPr>
              <a:t>ENJOY THE DAY</a:t>
            </a: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1247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516" y="517358"/>
            <a:ext cx="8229600" cy="4525963"/>
          </a:xfrm>
        </p:spPr>
        <p:txBody>
          <a:bodyPr anchor="ctr"/>
          <a:lstStyle/>
          <a:p>
            <a:pPr marL="0" indent="0" algn="ctr">
              <a:buNone/>
            </a:pPr>
            <a:endParaRPr lang="en-AU" sz="6600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6600" dirty="0" smtClean="0">
                <a:solidFill>
                  <a:srgbClr val="FF0000"/>
                </a:solidFill>
              </a:rPr>
              <a:t>ENJOY THE CUSTOMER!!</a:t>
            </a:r>
            <a:endParaRPr lang="en-AU" sz="6600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068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458</Words>
  <Application>Microsoft Macintosh PowerPoint</Application>
  <PresentationFormat>On-screen Show (4:3)</PresentationFormat>
  <Paragraphs>83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Savemor   BRILLIANT   Customer   Service </vt:lpstr>
      <vt:lpstr>Customer Service &amp; Expectations:</vt:lpstr>
      <vt:lpstr>PowerPoint Presentation</vt:lpstr>
      <vt:lpstr>Savemor   What do we do? </vt:lpstr>
      <vt:lpstr>Role play: gathering at home that is open house. </vt:lpstr>
      <vt:lpstr>How can we do this in store…….</vt:lpstr>
      <vt:lpstr>PowerPoint Presentation</vt:lpstr>
      <vt:lpstr>Role play  - Ask open ended questions, listen.</vt:lpstr>
      <vt:lpstr>Ways we communicate:   Body language   Words we use   The way we say the words –  </vt:lpstr>
      <vt:lpstr>PowerPoint Presentation</vt:lpstr>
      <vt:lpstr>ATTITUDE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Savemor   BRILLIANT   Customer   Service </dc:title>
  <dc:creator>Cara O'Brien</dc:creator>
  <cp:lastModifiedBy>Cara O'Brien</cp:lastModifiedBy>
  <cp:revision>4</cp:revision>
  <dcterms:created xsi:type="dcterms:W3CDTF">2012-04-16T15:06:26Z</dcterms:created>
  <dcterms:modified xsi:type="dcterms:W3CDTF">2012-04-16T15:35:29Z</dcterms:modified>
</cp:coreProperties>
</file>